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7416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Body Performance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 System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188720" cy="457200"/>
          </a:xfrm>
          <a:prstGeom prst="roundRect">
            <a:avLst>
              <a:gd name="adj" fmla="val 10000"/>
            </a:avLst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BPIS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Human Body Classification &amp; Performance Analysis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023360"/>
            <a:ext cx="1828800" cy="822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13,393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4023360"/>
            <a:ext cx="1828800" cy="822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023360"/>
            <a:ext cx="1828800" cy="822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4023360"/>
            <a:ext cx="1828800" cy="822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66560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6656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Data Science  ·  Health Analytics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Presentation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0467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73152" cy="80467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0789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4081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fitness classification challenges and the BPIS approach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965960"/>
            <a:ext cx="8595360" cy="80467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73152" cy="80467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039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Models Used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6829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algorithms compared: KNN, Decision Tree, Random Forest, SVM, Naïve Bayes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8595360" cy="80467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73152" cy="80467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29992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Insights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284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performance, accuracy metrics, and key findings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8595360" cy="80467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886200"/>
            <a:ext cx="73152" cy="80467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280160" y="39593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80160" y="42885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recommendations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0" y="2834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&amp; Solution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fitness classification is hard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64008" cy="14630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 Subjective Assessment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on manual, non-standardized evaluation by trainers — inconsistent across gyms and practitioners.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20624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64008" cy="14630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Multi-dimensional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depends on 11 different metrics: age, body fat %, blood pressure, grip force, flexibility, endurance, and more.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64008" cy="14630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No Unified Scoring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3558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single consistent system to classify a person's overall fitness level into a clear, actionable category (A/B/C/D).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880360"/>
            <a:ext cx="420624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64008" cy="146304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⏱ Slow Feedback Loop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3558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and patients wait for long lab processes; there is no real-time intelligent classification system.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Dataset — 13,393 records from real fitness assessments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 Input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5720" cy="40233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5453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282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21–64 yrs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508760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377440" y="1508760"/>
            <a:ext cx="45720" cy="40233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87168" y="15453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87168" y="172821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/ 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020824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020824"/>
            <a:ext cx="45720" cy="40233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" y="2057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2402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77440" y="2020824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377440" y="2020824"/>
            <a:ext cx="45720" cy="40233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87168" y="20574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87168" y="2240280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532888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532888"/>
            <a:ext cx="45720" cy="40233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569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Fat 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2752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0" y="2532888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377440" y="2532888"/>
            <a:ext cx="45720" cy="40233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487168" y="2569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BP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487168" y="2752344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3044952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3044952"/>
            <a:ext cx="45720" cy="40233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081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84048" y="32644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77440" y="3044952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377440" y="3044952"/>
            <a:ext cx="45720" cy="40233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487168" y="30815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Grip Force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487168" y="3264408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3557016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" y="3557016"/>
            <a:ext cx="45720" cy="402336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84048" y="3593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Sit-Bend Fwd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" y="37764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0" y="3557016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377440" y="3557016"/>
            <a:ext cx="45720" cy="402336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487168" y="35935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487168" y="377647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069080"/>
            <a:ext cx="1920240" cy="402336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4069080"/>
            <a:ext cx="45720" cy="402336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84048" y="41056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Jump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84048" y="4288536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1097280"/>
            <a:ext cx="4206240" cy="384048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Target Classes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4846320" y="1691640"/>
            <a:ext cx="3840480" cy="64008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6320" y="1691640"/>
            <a:ext cx="64008" cy="64008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029200" y="1783080"/>
            <a:ext cx="411480" cy="457200"/>
          </a:xfrm>
          <a:prstGeom prst="roundRect">
            <a:avLst>
              <a:gd name="adj" fmla="val 8889"/>
            </a:avLst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5029200" y="17830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532120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Performance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532120" y="20391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~3,348 records  |  25%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846320" y="2496312"/>
            <a:ext cx="3840480" cy="64008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46320" y="2496312"/>
            <a:ext cx="64008" cy="64008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029200" y="2587752"/>
            <a:ext cx="411480" cy="457200"/>
          </a:xfrm>
          <a:prstGeom prst="roundRect">
            <a:avLst>
              <a:gd name="adj" fmla="val 8889"/>
            </a:avLst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029200" y="258775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553212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Performance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532120" y="284378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~3,348 records  |  25%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846320" y="3300984"/>
            <a:ext cx="3840480" cy="64008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846320" y="3300984"/>
            <a:ext cx="64008" cy="64008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029200" y="3392424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029200" y="339242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5532120" y="33924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Performance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532120" y="3648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~3,348 records  |  25%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846320" y="4105656"/>
            <a:ext cx="3840480" cy="64008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846320" y="4105656"/>
            <a:ext cx="64008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029200" y="4197096"/>
            <a:ext cx="411480" cy="457200"/>
          </a:xfrm>
          <a:prstGeom prst="roundRect">
            <a:avLst>
              <a:gd name="adj" fmla="val 8889"/>
            </a:avLst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029200" y="4197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5532120" y="4197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Average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5532120" y="445312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~3,348 records  |  25%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Solution: BPIS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554480" cy="32918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5448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13,393 records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fitness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47088" y="2651760"/>
            <a:ext cx="128016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11680" y="1005840"/>
            <a:ext cx="1554480" cy="32918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011680" y="1005840"/>
            <a:ext cx="1554480" cy="7315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514600" y="114300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146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&amp; scale features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84448" y="2651760"/>
            <a:ext cx="128016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1005840"/>
            <a:ext cx="1554480" cy="32918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49040" y="1005840"/>
            <a:ext cx="155448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51960" y="1143000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5196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490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4048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distributions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21808" y="2651760"/>
            <a:ext cx="128016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86400" y="1005840"/>
            <a:ext cx="1554480" cy="32918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0" y="1005840"/>
            <a:ext cx="1554480" cy="7315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989320" y="114300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893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ML algorithms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80/20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59168" y="2651760"/>
            <a:ext cx="128016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223760" y="1005840"/>
            <a:ext cx="1554480" cy="32918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223760" y="1005840"/>
            <a:ext cx="1554480" cy="7315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726680" y="114300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266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2376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2423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F1-Score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Accurately classify any individual into performance class A, B, C, or D using machine learning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2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Models Used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Machine Learning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1828800" cy="292608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182880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43000" y="1097280"/>
            <a:ext cx="548640" cy="54864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K-Nearest Neighbors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87168"/>
            <a:ext cx="1371600" cy="2926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914400"/>
            <a:ext cx="1828800" cy="292608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0" y="914400"/>
            <a:ext cx="182880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0972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2487168"/>
            <a:ext cx="1371600" cy="2926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8892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14400"/>
            <a:ext cx="1828800" cy="292608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17720" y="914400"/>
            <a:ext cx="182880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57800" y="1097280"/>
            <a:ext cx="548640" cy="54864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SVM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Vector Machine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487168"/>
            <a:ext cx="1371600" cy="2926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914400"/>
            <a:ext cx="1828800" cy="292608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75120" y="914400"/>
            <a:ext cx="18288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315200" y="1097280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315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 (MLP)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903720" y="2487168"/>
            <a:ext cx="1371600" cy="2926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0372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using 80/20 train-test split  ·  Preprocessing: Label Encoding + Standard Scaling  ·  Evaluation: Accuracy, Precision, Recall, F1-Score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64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K-Nearest Neighbors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Instance-Based Learning  ·  Model 1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1965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classifies a new data point by looking at its K=5 closest neighbors in the feature space.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BPIS: Given a person's fitness metrics, KNN finds the 5 most similar people in the training set and assigns the majority class (A, B, C, or D).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Euclidean distance across all 11 features after StandardScaler normalization.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Advantages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07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intuitive — no training phase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normalized multi-feature data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'Similar people → similar fitness class'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039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408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prediction on large datasets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irrelevant features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selection of K value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8595360" cy="1901952"/>
          </a:xfrm>
          <a:prstGeom prst="rect">
            <a:avLst/>
          </a:prstGeom>
          <a:solidFill>
            <a:srgbClr val="1620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859536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61.07%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148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3520440"/>
            <a:ext cx="192024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63.76%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1920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61.07%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916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352044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61.43%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5800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64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Tree Classifier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Learning  ·  Model 2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1965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splits data using if-then rules based on feature thresholds.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BPIS: The tree asks 'Is sit-up count &gt; 45?' or 'Is body fat &lt; 20%?' to progressively narrow down to a fitness class.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Criteria: Gini Impurity — finds the best feature threshold at each node to maximize class purity.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Advantages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07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— can visualize rules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data types well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normalization required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039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408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overfitting on training data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— small data changes alter tree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toward features with more levels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8595360" cy="1901952"/>
          </a:xfrm>
          <a:prstGeom prst="rect">
            <a:avLst/>
          </a:prstGeom>
          <a:solidFill>
            <a:srgbClr val="1620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8595360" cy="6400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148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3520440"/>
            <a:ext cx="192024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65.87%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1920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65.88%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916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352044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65.86%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5800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SVM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64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Vector Machine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Kernel-Based Learning  ·  Model 3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1965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finds the optimal hyperplane that maximally separates classes in high-dimensional space.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BPIS: Uses RBF kernel to draw non-linear decision boundaries between fitness classes A/B/C/D.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Maximizes the margin between the nearest training points (support vectors) of each class.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Advantages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07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high-dimensional feature spaces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with clear class margins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handles non-linear patterns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039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408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large datasets (13K+ records)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careful C &amp; gamma hypertuning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interpret final decisions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8595360" cy="1901952"/>
          </a:xfrm>
          <a:prstGeom prst="rect">
            <a:avLst/>
          </a:prstGeom>
          <a:solidFill>
            <a:srgbClr val="1620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859536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69.84%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148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3520440"/>
            <a:ext cx="192024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70.61%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1920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69.84%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916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352044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70.10%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5800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13716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37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645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 (MLP)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34440" y="594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Model 4 of 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114800" cy="19659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148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26464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with hidden layers (100 → 50 neurons) learns complex non-linear patterns.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BPIS: Input = 11 fitness features → Hidden layers learn combinations → Output = class A/B/C/D. Trained with backpropagation and Adam optimizer.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Best model in BPIS — highest accuracy across all 4 algorithms.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1005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 Advantages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1307592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accuracy among all 4 models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relationships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well with more data &amp; features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1993392"/>
            <a:ext cx="4297680" cy="91440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03911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234086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more training time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interpret (black box)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more data to generalize well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35808"/>
            <a:ext cx="8595360" cy="1901952"/>
          </a:xfrm>
          <a:prstGeom prst="rect">
            <a:avLst/>
          </a:prstGeom>
          <a:solidFill>
            <a:srgbClr val="16203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035808"/>
            <a:ext cx="859536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1480" y="30906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1148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92024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1148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560320" y="3520440"/>
            <a:ext cx="1920240" cy="54864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56032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73.74%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3520440"/>
            <a:ext cx="1920240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470916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520440"/>
            <a:ext cx="1920240" cy="123444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858000" y="3520440"/>
            <a:ext cx="1920240" cy="54864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0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73.39%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858000" y="4270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0" y="73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13716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0" y="2834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Insights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Evaluation — Full Metrics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Precision · Recall · F1-Score  |  Test Set: 2,679 records (20%)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78308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058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48840" y="1005840"/>
            <a:ext cx="146304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14884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03320" y="1005840"/>
            <a:ext cx="146304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0332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57800" y="1005840"/>
            <a:ext cx="146304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5780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1005840"/>
            <a:ext cx="1463040" cy="3840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12280" y="1005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1481328"/>
            <a:ext cx="8366760" cy="566928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481328"/>
            <a:ext cx="54864" cy="56692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1481328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48840" y="1481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61.07%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03320" y="1481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63.76%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1481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61.07%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14813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61.43%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139696"/>
            <a:ext cx="8366760" cy="566928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139696"/>
            <a:ext cx="54864" cy="5669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4048" y="2139696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48840" y="2139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65.88%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2139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65.87%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139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65.88%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21396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65.86%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2798064"/>
            <a:ext cx="8366760" cy="566928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74320" y="2798064"/>
            <a:ext cx="54864" cy="56692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2798064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SVM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48840" y="27980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69.84%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703320" y="27980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70.61%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7980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69.84%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12280" y="279806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70.10%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3456432"/>
            <a:ext cx="8366760" cy="566928"/>
          </a:xfrm>
          <a:prstGeom prst="rect">
            <a:avLst/>
          </a:prstGeom>
          <a:solidFill>
            <a:srgbClr val="1E3A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456432"/>
            <a:ext cx="54864" cy="56692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3456432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  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148840" y="3456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703320" y="3456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73.74%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257800" y="3456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812280" y="345643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73.39%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" y="4251960"/>
            <a:ext cx="2011680" cy="713232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74320" y="4251960"/>
            <a:ext cx="2011680" cy="457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74320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7472" y="45628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 out of all predictions made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0592" y="4251960"/>
            <a:ext cx="2011680" cy="713232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2450592" y="4251960"/>
            <a:ext cx="2011680" cy="457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450592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523744" y="45628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predicted positives, how many were actually correct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26864" y="4251960"/>
            <a:ext cx="2011680" cy="713232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26864" y="4251960"/>
            <a:ext cx="2011680" cy="45720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26864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Recall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00016" y="45628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actual positives, how many were correctly identified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803136" y="4251960"/>
            <a:ext cx="2011680" cy="713232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803136" y="4251960"/>
            <a:ext cx="2011680" cy="4572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803136" y="4306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F1-Score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876288" y="456285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balanced metric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Accuracy Comparison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5669280" cy="4023360"/>
          </a:xfrm>
          <a:prstGeom prst="rect">
            <a:avLst/>
          </a:prstGeom>
          <a:solidFill>
            <a:srgbClr val="1E2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1261872"/>
            <a:ext cx="4297680" cy="438912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0120" y="1261872"/>
            <a:ext cx="3147621" cy="43891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21808" y="1097280"/>
            <a:ext cx="71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2130552"/>
            <a:ext cx="4297680" cy="438912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60120" y="2130552"/>
            <a:ext cx="3001500" cy="43891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9659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SVM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21808" y="1965960"/>
            <a:ext cx="71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69.84%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2999232"/>
            <a:ext cx="4297680" cy="438912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120" y="2999232"/>
            <a:ext cx="2831312" cy="43891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283464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21808" y="2834640"/>
            <a:ext cx="71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65.88%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60120" y="3867912"/>
            <a:ext cx="4297680" cy="438912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60120" y="3867912"/>
            <a:ext cx="2624593" cy="43891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70332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KNN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21808" y="3703320"/>
            <a:ext cx="713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61.07%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868680"/>
            <a:ext cx="2743200" cy="402336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26480" y="9601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🏆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12648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2648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 Network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46520" y="2633472"/>
            <a:ext cx="2103120" cy="56692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26334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 Accuracy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17920" y="331012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captures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fitness patterns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simpler models miss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4297680"/>
            <a:ext cx="2560320" cy="457200"/>
          </a:xfrm>
          <a:prstGeom prst="rect">
            <a:avLst/>
          </a:prstGeom>
          <a:solidFill>
            <a:srgbClr val="1620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1792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61% → 73%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Insights from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💪 Top Predictive Features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3350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Sit-ups count, Broad Jump, and Grip Force are the strongest predictors of fitness class. Physical performance metrics outweigh body composition.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64008" cy="11704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Balanced Dataset Advantage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33502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perfectly balanced dataset (~25% per class) eliminates class imbalance issues, making accuracy a reliable metric across all models.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267712"/>
            <a:ext cx="64008" cy="11704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📈 Neural Network Wins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6883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achieved 73.24% accuracy — highest among all 4 models. Deep learning captures non-linear fitness patterns that rule-based models miss.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267712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267712"/>
            <a:ext cx="64008" cy="1170432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🧬 Age &amp; Gender Complexity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6883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gender alone don't determine class — a 60-year-old can achieve Class A while a 21-year-old can score Class D, proving overall lifestyle matters more.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21024"/>
            <a:ext cx="64008" cy="1170432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Preprocessing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40416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Scaling significantly boosted KNN and SVM performance. Without normalization, these models underperform due to feature scale differences.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621024"/>
            <a:ext cx="4206240" cy="1170432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64008" cy="1170432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19472" y="371246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FC3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 Interpretability Trade-off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404164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offers full transparency (readable rules) at 65.88% while Neural Network sacrifices interpretability for 73.24% accuracy — a classic ML trade-off.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&amp; 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Intelligence System (BPIS) — Complete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47472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4320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Solved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fitness classification is subjective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420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body metrics make it a complex ML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1638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BPIS automates classification into A/B/C/D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13,393 real fitness records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234440"/>
            <a:ext cx="2743200" cy="347472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234440"/>
            <a:ext cx="27432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Model: Neural Network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73.24% accuracy — highest of all 4 models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100 → 50 hidden neurons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1638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73.74% | Recall 73.24% | F1 73.39%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patterns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234440"/>
            <a:ext cx="2743200" cy="347472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6480" y="1234440"/>
            <a:ext cx="2743200" cy="64008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Insights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92024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tests predict class better than body stats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25420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dataset = reliable accuracy metric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316382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(scaling) critical for KNN &amp; SVM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37856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≠ fitness — lifestyle determines class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BPIS lays the foundation for real-time AI fitness assessment — deployable in gyms, hospitals, and sports centers worldwide.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" y="0"/>
            <a:ext cx="9034272" cy="54864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Performance Intelligence System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• Predict • Improve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108960"/>
            <a:ext cx="173736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73736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3152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Analyzed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108960"/>
            <a:ext cx="173736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0" y="3108960"/>
            <a:ext cx="173736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73.24%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 (NN)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108960"/>
            <a:ext cx="173736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173736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Compared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3108960"/>
            <a:ext cx="1737360" cy="1463040"/>
          </a:xfrm>
          <a:prstGeom prst="rect">
            <a:avLst/>
          </a:prstGeom>
          <a:solidFill>
            <a:srgbClr val="1E2D4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766560" y="3108960"/>
            <a:ext cx="1737360" cy="64008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66560" y="32461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66560" y="391363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Classes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1432</Words>
  <Application>Microsoft Office PowerPoint</Application>
  <PresentationFormat>On-screen Show (16:9)</PresentationFormat>
  <Paragraphs>335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Body Performance Intelligence System (BPIS)</dc:title>
  <dc:subject>PptxGenJS Presentation</dc:subject>
  <dc:creator>PptxGenJS</dc:creator>
  <cp:lastModifiedBy>Ali, ahmed 12733055</cp:lastModifiedBy>
  <cp:revision>2</cp:revision>
  <dcterms:created xsi:type="dcterms:W3CDTF">2026-03-28T08:24:33Z</dcterms:created>
  <dcterms:modified xsi:type="dcterms:W3CDTF">2026-03-28T16:36:21Z</dcterms:modified>
</cp:coreProperties>
</file>